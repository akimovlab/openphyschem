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32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2DA59-4306-2A5E-8C93-E1481821A1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F235B4-4B06-0746-0501-C3462DC53B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5CCB9-6D64-E2CA-957A-59C893A42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C5A93-5ABE-4A6C-922D-83AD220C875C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0BA7F-184B-1E0D-A353-B19A1FE03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3BF1F-3E98-33A3-C9C7-0D6D06148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E9464-1A93-4602-80E9-8AE39C569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563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CA8E5-C73B-A42F-59C0-04CF4B5CA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9FB0A-F4AC-20BE-3FE7-25EE69182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65FC6-3B03-DEFA-9B0E-EE5387E08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C5A93-5ABE-4A6C-922D-83AD220C875C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C993D-85D9-9AFE-7ACB-FB84860AC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B5EBA-8222-581D-5495-5346D14B8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E9464-1A93-4602-80E9-8AE39C569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998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3C561-0BD8-24E4-3170-4C784EBAF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85E12A-F404-FD84-13E0-F4C6D0925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FA930-ECA5-76AC-93C3-6313E0048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C5A93-5ABE-4A6C-922D-83AD220C875C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0D160-5365-4395-4959-4177FAA6A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49AC5-FA2F-7DEF-8A76-37C8F42D3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E9464-1A93-4602-80E9-8AE39C569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166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285EA-6E12-E292-AC96-409038565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8B9E7-909F-1975-2EEA-5130DE1968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185314-4358-1C84-4EF8-0ECA3B8875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0D284-F807-1F1F-EA04-E009D3748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C5A93-5ABE-4A6C-922D-83AD220C875C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69A84-21C5-C8FA-619D-0943BB33A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73E940-EF83-025A-821A-45B02F61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E9464-1A93-4602-80E9-8AE39C569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517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1122C-D578-1793-A357-DF1BA4798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B254D7-3954-481E-63CA-8FA33AB8F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F78341-01E7-653F-F460-D2D826E046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C5ED27-6DEA-1A8D-265C-D065B431EE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C5ED5D-D634-3741-557C-27FE3C53F0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535D13-FE55-D101-90D3-C8C9F9526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C5A93-5ABE-4A6C-922D-83AD220C875C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F4353D-E10B-0428-1BB1-718D6CDF4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8E30B9-9663-B827-A429-E0FF3AC89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E9464-1A93-4602-80E9-8AE39C569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543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54FCA-BDEC-EBB5-75F9-4FDFD0E88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83B738-3DCD-17FD-CDA7-BCBC87FD0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C5A93-5ABE-4A6C-922D-83AD220C875C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F057B-BEC4-7A70-7F15-135C8992C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8BD1E7-B4C8-BCD9-08C9-B4BE904A4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E9464-1A93-4602-80E9-8AE39C569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618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8ABCF-4F99-0F1C-0A71-787686238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C5A93-5ABE-4A6C-922D-83AD220C875C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44CC95-88F6-E6B6-7D01-C565FE6A7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791CE-3D1D-5BB0-E9C9-57FB238B5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E9464-1A93-4602-80E9-8AE39C569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409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08396-C235-FDA6-365E-3F300A3D3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85590-C58D-A864-6ADE-49275714A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2324F9-F880-C7BF-369E-D9B3EB176B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180AF5-45BE-7BD1-5837-8C3D5C8B8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C5A93-5ABE-4A6C-922D-83AD220C875C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3A7F2E-5DE3-0D6C-C0D3-86A36C26E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BC514B-1F39-C429-608F-641B140A0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E9464-1A93-4602-80E9-8AE39C569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271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A460D-BAD0-7C6E-0D5A-018DA5E01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E91E22-A813-DFAD-593A-AFED37203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EF320-5AC1-2A38-B831-F395DF0CC7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7F79A2-FE55-1348-91CC-B2B0A530F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C5A93-5ABE-4A6C-922D-83AD220C875C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84762-7CDF-BC67-9487-FA15CD6C8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788E20-A1F6-FE9B-11CA-F14258C5E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E9464-1A93-4602-80E9-8AE39C569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195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74227-7522-A261-F002-E59738F70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CC17B9-50F1-A5AD-2BA0-B78C4C9A3C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A8811-3198-BE94-7068-3D42BE618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C5A93-5ABE-4A6C-922D-83AD220C875C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0CF7D-51FC-D7B6-29ED-49EE4A3B2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6E574-5903-F369-5B01-B7463B684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E9464-1A93-4602-80E9-8AE39C569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279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535EF9-A338-ECD2-B676-A3C1593209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FB944A-4546-EE0C-5BBE-ABFF869857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2698D-794C-581E-9D5A-3AA2532DD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C5A93-5ABE-4A6C-922D-83AD220C875C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A3EAA-B69F-A727-9EDA-00F055770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34D46-7785-C0F6-73EA-D905F1EBB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E9464-1A93-4602-80E9-8AE39C569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443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14FA5E-6FA9-DA59-FE27-5BB866CE2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CE12F-FAE7-B2DF-6960-4E0B4D95C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51D09-AC7C-E0DA-CFF4-4251E95315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CC5A93-5ABE-4A6C-922D-83AD220C875C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DB890-2C25-6A1E-439D-23E7467AD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5EAA5-F379-DCD2-3C1F-FB68FEBF2B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DE9464-1A93-4602-80E9-8AE39C569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801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2">
            <a:extLst>
              <a:ext uri="{FF2B5EF4-FFF2-40B4-BE49-F238E27FC236}">
                <a16:creationId xmlns:a16="http://schemas.microsoft.com/office/drawing/2014/main" id="{86C448EF-2340-3C45-CD20-786F59016B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77329" y="2287616"/>
            <a:ext cx="2604463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 dirty="0">
                <a:latin typeface="Arial" panose="020B0604020202020204" pitchFamily="34" charset="0"/>
              </a:rPr>
              <a:t>Heat </a:t>
            </a:r>
            <a:r>
              <a:rPr lang="en-US" altLang="en-US" sz="4000" b="1" dirty="0">
                <a:latin typeface="Arial" panose="020B0604020202020204" pitchFamily="34" charset="0"/>
              </a:rPr>
              <a:t>released</a:t>
            </a:r>
            <a:r>
              <a:rPr lang="en-US" altLang="en-US" sz="4000" dirty="0">
                <a:latin typeface="Arial" panose="020B0604020202020204" pitchFamily="34" charset="0"/>
              </a:rPr>
              <a:t> by system</a:t>
            </a:r>
          </a:p>
        </p:txBody>
      </p:sp>
      <p:sp>
        <p:nvSpPr>
          <p:cNvPr id="6" name="Right Arrow 7">
            <a:extLst>
              <a:ext uri="{FF2B5EF4-FFF2-40B4-BE49-F238E27FC236}">
                <a16:creationId xmlns:a16="http://schemas.microsoft.com/office/drawing/2014/main" id="{ACAB1305-7B65-37D9-314E-0B6885929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0495" y="3047078"/>
            <a:ext cx="1344966" cy="586017"/>
          </a:xfrm>
          <a:prstGeom prst="rightArrow">
            <a:avLst>
              <a:gd name="adj1" fmla="val 50000"/>
              <a:gd name="adj2" fmla="val 49992"/>
            </a:avLst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5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9" name="Right Arrow 10">
            <a:extLst>
              <a:ext uri="{FF2B5EF4-FFF2-40B4-BE49-F238E27FC236}">
                <a16:creationId xmlns:a16="http://schemas.microsoft.com/office/drawing/2014/main" id="{7C7A36B1-4FA9-E9E1-5935-46C387BF6B5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451201" y="4989962"/>
            <a:ext cx="1053750" cy="562649"/>
          </a:xfrm>
          <a:prstGeom prst="rightArrow">
            <a:avLst>
              <a:gd name="adj1" fmla="val 50000"/>
              <a:gd name="adj2" fmla="val 50005"/>
            </a:avLst>
          </a:prstGeom>
          <a:solidFill>
            <a:srgbClr val="0070C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5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2CE32A49-1EC0-3E36-50AF-115A7C2277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892" y="2287616"/>
            <a:ext cx="2341896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 dirty="0">
                <a:latin typeface="Arial" panose="020B0604020202020204" pitchFamily="34" charset="0"/>
              </a:rPr>
              <a:t>Heat </a:t>
            </a:r>
            <a:r>
              <a:rPr lang="en-US" altLang="en-US" sz="4000" b="1" dirty="0">
                <a:latin typeface="Arial" panose="020B0604020202020204" pitchFamily="34" charset="0"/>
              </a:rPr>
              <a:t>added</a:t>
            </a:r>
            <a:r>
              <a:rPr lang="en-US" altLang="en-US" sz="4000" dirty="0">
                <a:latin typeface="Arial" panose="020B0604020202020204" pitchFamily="34" charset="0"/>
              </a:rPr>
              <a:t> to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3">
                <a:extLst>
                  <a:ext uri="{FF2B5EF4-FFF2-40B4-BE49-F238E27FC236}">
                    <a16:creationId xmlns:a16="http://schemas.microsoft.com/office/drawing/2014/main" id="{09A00538-450F-53D8-3827-87DC604DC7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46841" y="3605051"/>
                <a:ext cx="1841245" cy="7694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44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en-US" sz="4400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altLang="en-US" sz="4400" i="1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TextBox 13">
                <a:extLst>
                  <a:ext uri="{FF2B5EF4-FFF2-40B4-BE49-F238E27FC236}">
                    <a16:creationId xmlns:a16="http://schemas.microsoft.com/office/drawing/2014/main" id="{09A00538-450F-53D8-3827-87DC604DC7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46841" y="3605051"/>
                <a:ext cx="1841245" cy="7694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4">
                <a:extLst>
                  <a:ext uri="{FF2B5EF4-FFF2-40B4-BE49-F238E27FC236}">
                    <a16:creationId xmlns:a16="http://schemas.microsoft.com/office/drawing/2014/main" id="{A507F35F-5476-C897-B550-50612F7352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03562" y="3641238"/>
                <a:ext cx="1922513" cy="7694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44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en-US" sz="4400" b="0" i="1" smtClean="0"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US" altLang="en-US" sz="4400" i="1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4">
                <a:extLst>
                  <a:ext uri="{FF2B5EF4-FFF2-40B4-BE49-F238E27FC236}">
                    <a16:creationId xmlns:a16="http://schemas.microsoft.com/office/drawing/2014/main" id="{A507F35F-5476-C897-B550-50612F7352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03562" y="3641238"/>
                <a:ext cx="1922513" cy="7694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5">
            <a:extLst>
              <a:ext uri="{FF2B5EF4-FFF2-40B4-BE49-F238E27FC236}">
                <a16:creationId xmlns:a16="http://schemas.microsoft.com/office/drawing/2014/main" id="{28BC8870-00FC-A1BA-E27C-217C60268F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7007" y="1174720"/>
            <a:ext cx="1581047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400" i="1" dirty="0">
                <a:latin typeface="Arial" panose="020B0604020202020204" pitchFamily="34" charset="0"/>
              </a:rPr>
              <a:t>W&gt;0</a:t>
            </a:r>
          </a:p>
        </p:txBody>
      </p:sp>
      <p:sp>
        <p:nvSpPr>
          <p:cNvPr id="14" name="TextBox 16">
            <a:extLst>
              <a:ext uri="{FF2B5EF4-FFF2-40B4-BE49-F238E27FC236}">
                <a16:creationId xmlns:a16="http://schemas.microsoft.com/office/drawing/2014/main" id="{B467F5BF-A3C1-C038-A373-1FD69B52FD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9401" y="4761233"/>
            <a:ext cx="137625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400" i="1" dirty="0">
                <a:latin typeface="Arial" panose="020B0604020202020204" pitchFamily="34" charset="0"/>
              </a:rPr>
              <a:t>W&lt;0</a:t>
            </a:r>
          </a:p>
        </p:txBody>
      </p:sp>
      <p:sp>
        <p:nvSpPr>
          <p:cNvPr id="15" name="TextBox 17">
            <a:extLst>
              <a:ext uri="{FF2B5EF4-FFF2-40B4-BE49-F238E27FC236}">
                <a16:creationId xmlns:a16="http://schemas.microsoft.com/office/drawing/2014/main" id="{4A83269D-8150-2397-45CD-D363CB02FE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4378" y="123781"/>
            <a:ext cx="533292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 dirty="0">
                <a:latin typeface="Arial" panose="020B0604020202020204" pitchFamily="34" charset="0"/>
              </a:rPr>
              <a:t>Work done </a:t>
            </a:r>
            <a:r>
              <a:rPr lang="en-US" altLang="en-US" sz="4000" b="1" dirty="0">
                <a:latin typeface="Arial" panose="020B0604020202020204" pitchFamily="34" charset="0"/>
              </a:rPr>
              <a:t>on</a:t>
            </a:r>
            <a:r>
              <a:rPr lang="en-US" altLang="en-US" sz="4000" dirty="0">
                <a:latin typeface="Arial" panose="020B0604020202020204" pitchFamily="34" charset="0"/>
              </a:rPr>
              <a:t> system</a:t>
            </a:r>
          </a:p>
        </p:txBody>
      </p:sp>
      <p:sp>
        <p:nvSpPr>
          <p:cNvPr id="16" name="TextBox 18">
            <a:extLst>
              <a:ext uri="{FF2B5EF4-FFF2-40B4-BE49-F238E27FC236}">
                <a16:creationId xmlns:a16="http://schemas.microsoft.com/office/drawing/2014/main" id="{21E53C8A-2B4C-0F8B-348E-57EBDDF5A8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0556" y="5845041"/>
            <a:ext cx="534556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 dirty="0">
                <a:latin typeface="Arial" panose="020B0604020202020204" pitchFamily="34" charset="0"/>
              </a:rPr>
              <a:t>Work done </a:t>
            </a:r>
            <a:r>
              <a:rPr lang="en-US" altLang="en-US" sz="4000" b="1" dirty="0">
                <a:latin typeface="Arial" panose="020B0604020202020204" pitchFamily="34" charset="0"/>
              </a:rPr>
              <a:t>by</a:t>
            </a:r>
            <a:r>
              <a:rPr lang="en-US" altLang="en-US" sz="4000" dirty="0">
                <a:latin typeface="Arial" panose="020B0604020202020204" pitchFamily="34" charset="0"/>
              </a:rPr>
              <a:t> system</a:t>
            </a:r>
          </a:p>
        </p:txBody>
      </p:sp>
      <p:sp>
        <p:nvSpPr>
          <p:cNvPr id="17" name="Cube 16">
            <a:extLst>
              <a:ext uri="{FF2B5EF4-FFF2-40B4-BE49-F238E27FC236}">
                <a16:creationId xmlns:a16="http://schemas.microsoft.com/office/drawing/2014/main" id="{AB6AF4CA-77DF-F246-148C-6AF9B437ACF8}"/>
              </a:ext>
            </a:extLst>
          </p:cNvPr>
          <p:cNvSpPr/>
          <p:nvPr/>
        </p:nvSpPr>
        <p:spPr>
          <a:xfrm>
            <a:off x="4686153" y="2287616"/>
            <a:ext cx="2558130" cy="2250399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6">
                <a:extLst>
                  <a:ext uri="{FF2B5EF4-FFF2-40B4-BE49-F238E27FC236}">
                    <a16:creationId xmlns:a16="http://schemas.microsoft.com/office/drawing/2014/main" id="{2BEF924D-F268-5161-F9ED-BD690DDE0C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99558" y="3079097"/>
                <a:ext cx="990599" cy="11079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6600" b="1" i="0" smtClean="0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𝚫</m:t>
                      </m:r>
                      <m:r>
                        <a:rPr lang="en-US" altLang="en-US" sz="6600" b="1" i="1" smtClean="0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𝑼</m:t>
                      </m:r>
                    </m:oMath>
                  </m:oMathPara>
                </a14:m>
                <a:endParaRPr lang="en-US" altLang="en-US" sz="6600" b="1" dirty="0">
                  <a:solidFill>
                    <a:srgbClr val="008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8" name="TextBox 6">
                <a:extLst>
                  <a:ext uri="{FF2B5EF4-FFF2-40B4-BE49-F238E27FC236}">
                    <a16:creationId xmlns:a16="http://schemas.microsoft.com/office/drawing/2014/main" id="{2BEF924D-F268-5161-F9ED-BD690DDE0C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99558" y="3079097"/>
                <a:ext cx="990599" cy="1107996"/>
              </a:xfrm>
              <a:prstGeom prst="rect">
                <a:avLst/>
              </a:prstGeom>
              <a:blipFill>
                <a:blip r:embed="rId4"/>
                <a:stretch>
                  <a:fillRect l="-1851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ight Arrow 10">
            <a:extLst>
              <a:ext uri="{FF2B5EF4-FFF2-40B4-BE49-F238E27FC236}">
                <a16:creationId xmlns:a16="http://schemas.microsoft.com/office/drawing/2014/main" id="{2CB00323-D785-031E-DFDD-16617F05E94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438342" y="1305389"/>
            <a:ext cx="1053750" cy="562649"/>
          </a:xfrm>
          <a:prstGeom prst="rightArrow">
            <a:avLst>
              <a:gd name="adj1" fmla="val 50000"/>
              <a:gd name="adj2" fmla="val 50005"/>
            </a:avLst>
          </a:prstGeom>
          <a:solidFill>
            <a:srgbClr val="0070C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5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0" name="Right Arrow 7">
            <a:extLst>
              <a:ext uri="{FF2B5EF4-FFF2-40B4-BE49-F238E27FC236}">
                <a16:creationId xmlns:a16="http://schemas.microsoft.com/office/drawing/2014/main" id="{0DABB426-F653-902E-F34D-F5CD9B9935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0417" y="3109749"/>
            <a:ext cx="1344966" cy="586017"/>
          </a:xfrm>
          <a:prstGeom prst="rightArrow">
            <a:avLst>
              <a:gd name="adj1" fmla="val 50000"/>
              <a:gd name="adj2" fmla="val 49992"/>
            </a:avLst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5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97689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46A24668-7446-12A3-E0DB-49E6DB829BD8}"/>
              </a:ext>
            </a:extLst>
          </p:cNvPr>
          <p:cNvSpPr/>
          <p:nvPr/>
        </p:nvSpPr>
        <p:spPr>
          <a:xfrm>
            <a:off x="7772399" y="4579144"/>
            <a:ext cx="3136272" cy="86439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E50B305-7354-7CFA-A9AE-B7493E949583}"/>
              </a:ext>
            </a:extLst>
          </p:cNvPr>
          <p:cNvSpPr/>
          <p:nvPr/>
        </p:nvSpPr>
        <p:spPr>
          <a:xfrm>
            <a:off x="1464468" y="2085975"/>
            <a:ext cx="3164681" cy="3450431"/>
          </a:xfrm>
          <a:custGeom>
            <a:avLst/>
            <a:gdLst>
              <a:gd name="connsiteX0" fmla="*/ 0 w 3186112"/>
              <a:gd name="connsiteY0" fmla="*/ 0 h 3450431"/>
              <a:gd name="connsiteX1" fmla="*/ 7144 w 3186112"/>
              <a:gd name="connsiteY1" fmla="*/ 3429000 h 3450431"/>
              <a:gd name="connsiteX2" fmla="*/ 3186112 w 3186112"/>
              <a:gd name="connsiteY2" fmla="*/ 3450431 h 3450431"/>
              <a:gd name="connsiteX3" fmla="*/ 3164681 w 3186112"/>
              <a:gd name="connsiteY3" fmla="*/ 2450306 h 3450431"/>
              <a:gd name="connsiteX4" fmla="*/ 2128837 w 3186112"/>
              <a:gd name="connsiteY4" fmla="*/ 2293144 h 3450431"/>
              <a:gd name="connsiteX5" fmla="*/ 1421606 w 3186112"/>
              <a:gd name="connsiteY5" fmla="*/ 2064544 h 3450431"/>
              <a:gd name="connsiteX6" fmla="*/ 764381 w 3186112"/>
              <a:gd name="connsiteY6" fmla="*/ 1585913 h 3450431"/>
              <a:gd name="connsiteX7" fmla="*/ 457200 w 3186112"/>
              <a:gd name="connsiteY7" fmla="*/ 1100138 h 3450431"/>
              <a:gd name="connsiteX8" fmla="*/ 164306 w 3186112"/>
              <a:gd name="connsiteY8" fmla="*/ 400050 h 3450431"/>
              <a:gd name="connsiteX9" fmla="*/ 0 w 3186112"/>
              <a:gd name="connsiteY9" fmla="*/ 0 h 3450431"/>
              <a:gd name="connsiteX0" fmla="*/ 0 w 3164681"/>
              <a:gd name="connsiteY0" fmla="*/ 0 h 3450431"/>
              <a:gd name="connsiteX1" fmla="*/ 7144 w 3164681"/>
              <a:gd name="connsiteY1" fmla="*/ 3429000 h 3450431"/>
              <a:gd name="connsiteX2" fmla="*/ 3150393 w 3164681"/>
              <a:gd name="connsiteY2" fmla="*/ 3450431 h 3450431"/>
              <a:gd name="connsiteX3" fmla="*/ 3164681 w 3164681"/>
              <a:gd name="connsiteY3" fmla="*/ 2450306 h 3450431"/>
              <a:gd name="connsiteX4" fmla="*/ 2128837 w 3164681"/>
              <a:gd name="connsiteY4" fmla="*/ 2293144 h 3450431"/>
              <a:gd name="connsiteX5" fmla="*/ 1421606 w 3164681"/>
              <a:gd name="connsiteY5" fmla="*/ 2064544 h 3450431"/>
              <a:gd name="connsiteX6" fmla="*/ 764381 w 3164681"/>
              <a:gd name="connsiteY6" fmla="*/ 1585913 h 3450431"/>
              <a:gd name="connsiteX7" fmla="*/ 457200 w 3164681"/>
              <a:gd name="connsiteY7" fmla="*/ 1100138 h 3450431"/>
              <a:gd name="connsiteX8" fmla="*/ 164306 w 3164681"/>
              <a:gd name="connsiteY8" fmla="*/ 400050 h 3450431"/>
              <a:gd name="connsiteX9" fmla="*/ 0 w 3164681"/>
              <a:gd name="connsiteY9" fmla="*/ 0 h 3450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64681" h="3450431">
                <a:moveTo>
                  <a:pt x="0" y="0"/>
                </a:moveTo>
                <a:cubicBezTo>
                  <a:pt x="2381" y="1143000"/>
                  <a:pt x="4763" y="2286000"/>
                  <a:pt x="7144" y="3429000"/>
                </a:cubicBezTo>
                <a:lnTo>
                  <a:pt x="3150393" y="3450431"/>
                </a:lnTo>
                <a:lnTo>
                  <a:pt x="3164681" y="2450306"/>
                </a:lnTo>
                <a:lnTo>
                  <a:pt x="2128837" y="2293144"/>
                </a:lnTo>
                <a:lnTo>
                  <a:pt x="1421606" y="2064544"/>
                </a:lnTo>
                <a:lnTo>
                  <a:pt x="764381" y="1585913"/>
                </a:lnTo>
                <a:lnTo>
                  <a:pt x="457200" y="1100138"/>
                </a:lnTo>
                <a:lnTo>
                  <a:pt x="164306" y="40005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8F1BDE0-EFBC-229F-E514-2981DFEBCAB4}"/>
              </a:ext>
            </a:extLst>
          </p:cNvPr>
          <p:cNvCxnSpPr/>
          <p:nvPr/>
        </p:nvCxnSpPr>
        <p:spPr>
          <a:xfrm>
            <a:off x="567559" y="5511625"/>
            <a:ext cx="4603531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569389D-9523-D8A5-7C8A-C22EAC06FDFD}"/>
              </a:ext>
            </a:extLst>
          </p:cNvPr>
          <p:cNvCxnSpPr>
            <a:cxnSpLocks/>
          </p:cNvCxnSpPr>
          <p:nvPr/>
        </p:nvCxnSpPr>
        <p:spPr>
          <a:xfrm flipV="1">
            <a:off x="719959" y="1595470"/>
            <a:ext cx="0" cy="4068555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7EE98EB-A37C-E612-855A-5A6A627D78AD}"/>
              </a:ext>
            </a:extLst>
          </p:cNvPr>
          <p:cNvSpPr/>
          <p:nvPr/>
        </p:nvSpPr>
        <p:spPr>
          <a:xfrm>
            <a:off x="1457324" y="2093119"/>
            <a:ext cx="3150394" cy="2493169"/>
          </a:xfrm>
          <a:custGeom>
            <a:avLst/>
            <a:gdLst>
              <a:gd name="connsiteX0" fmla="*/ 0 w 3150394"/>
              <a:gd name="connsiteY0" fmla="*/ 0 h 2493169"/>
              <a:gd name="connsiteX1" fmla="*/ 1042988 w 3150394"/>
              <a:gd name="connsiteY1" fmla="*/ 1800225 h 2493169"/>
              <a:gd name="connsiteX2" fmla="*/ 3150394 w 3150394"/>
              <a:gd name="connsiteY2" fmla="*/ 2493169 h 2493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50394" h="2493169">
                <a:moveTo>
                  <a:pt x="0" y="0"/>
                </a:moveTo>
                <a:cubicBezTo>
                  <a:pt x="258961" y="692348"/>
                  <a:pt x="517922" y="1384697"/>
                  <a:pt x="1042988" y="1800225"/>
                </a:cubicBezTo>
                <a:cubicBezTo>
                  <a:pt x="1568054" y="2215753"/>
                  <a:pt x="2359224" y="2354461"/>
                  <a:pt x="3150394" y="2493169"/>
                </a:cubicBezTo>
              </a:path>
            </a:pathLst>
          </a:custGeom>
          <a:noFill/>
          <a:ln w="635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F77841C-03DB-DB47-49AC-68F64B7AC4B8}"/>
                  </a:ext>
                </a:extLst>
              </p:cNvPr>
              <p:cNvSpPr txBox="1"/>
              <p:nvPr/>
            </p:nvSpPr>
            <p:spPr>
              <a:xfrm>
                <a:off x="2386013" y="2754928"/>
                <a:ext cx="260500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𝒊𝒏𝒕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𝒏𝑹𝑻</m:t>
                      </m:r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F77841C-03DB-DB47-49AC-68F64B7AC4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6013" y="2754928"/>
                <a:ext cx="2605009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68E89F3-807D-EC58-A866-A3EF985B550D}"/>
              </a:ext>
            </a:extLst>
          </p:cNvPr>
          <p:cNvCxnSpPr/>
          <p:nvPr/>
        </p:nvCxnSpPr>
        <p:spPr>
          <a:xfrm>
            <a:off x="4607718" y="4586288"/>
            <a:ext cx="0" cy="8643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B25BEF0-CF43-B29B-DF55-6AA2FAA779FF}"/>
              </a:ext>
            </a:extLst>
          </p:cNvPr>
          <p:cNvCxnSpPr/>
          <p:nvPr/>
        </p:nvCxnSpPr>
        <p:spPr>
          <a:xfrm>
            <a:off x="1457324" y="2093119"/>
            <a:ext cx="0" cy="34185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35139E3-95CF-CBD2-FC2A-F3DA8208E6E3}"/>
                  </a:ext>
                </a:extLst>
              </p:cNvPr>
              <p:cNvSpPr txBox="1"/>
              <p:nvPr/>
            </p:nvSpPr>
            <p:spPr>
              <a:xfrm>
                <a:off x="2386013" y="5572570"/>
                <a:ext cx="16018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Volume,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35139E3-95CF-CBD2-FC2A-F3DA8208E6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6013" y="5572570"/>
                <a:ext cx="1601849" cy="461665"/>
              </a:xfrm>
              <a:prstGeom prst="rect">
                <a:avLst/>
              </a:prstGeom>
              <a:blipFill>
                <a:blip r:embed="rId3"/>
                <a:stretch>
                  <a:fillRect l="-570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C95D960-B49B-6E4A-B7A2-293A33C61759}"/>
                  </a:ext>
                </a:extLst>
              </p:cNvPr>
              <p:cNvSpPr txBox="1"/>
              <p:nvPr/>
            </p:nvSpPr>
            <p:spPr>
              <a:xfrm rot="16200000">
                <a:off x="-485691" y="3453771"/>
                <a:ext cx="178908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Pressure,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C95D960-B49B-6E4A-B7A2-293A33C617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485691" y="3453771"/>
                <a:ext cx="1789080" cy="461665"/>
              </a:xfrm>
              <a:prstGeom prst="rect">
                <a:avLst/>
              </a:prstGeom>
              <a:blipFill>
                <a:blip r:embed="rId4"/>
                <a:stretch>
                  <a:fillRect l="-10526" r="-28947" b="-54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6501FDD-7D7B-FA36-32B5-65FC2E5F1A2F}"/>
                  </a:ext>
                </a:extLst>
              </p:cNvPr>
              <p:cNvSpPr txBox="1"/>
              <p:nvPr/>
            </p:nvSpPr>
            <p:spPr>
              <a:xfrm>
                <a:off x="1285876" y="5803402"/>
                <a:ext cx="66178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6501FDD-7D7B-FA36-32B5-65FC2E5F1A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5876" y="5803402"/>
                <a:ext cx="661783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9A9DD91-D703-FA59-5D51-F059D948D599}"/>
                  </a:ext>
                </a:extLst>
              </p:cNvPr>
              <p:cNvSpPr txBox="1"/>
              <p:nvPr/>
            </p:nvSpPr>
            <p:spPr>
              <a:xfrm>
                <a:off x="4213469" y="5791243"/>
                <a:ext cx="719492" cy="6313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9A9DD91-D703-FA59-5D51-F059D948D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3469" y="5791243"/>
                <a:ext cx="719492" cy="6313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38064F8-BC59-1E6C-AE5B-5102EDA35F9F}"/>
                  </a:ext>
                </a:extLst>
              </p:cNvPr>
              <p:cNvSpPr txBox="1"/>
              <p:nvPr/>
            </p:nvSpPr>
            <p:spPr>
              <a:xfrm>
                <a:off x="1825430" y="4421950"/>
                <a:ext cx="2216825" cy="8283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</m:d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𝒆𝒙𝒕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𝒅𝑽</m:t>
                          </m:r>
                        </m:e>
                      </m:nary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38064F8-BC59-1E6C-AE5B-5102EDA35F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5430" y="4421950"/>
                <a:ext cx="2216825" cy="8283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E59A3D8-FCC6-CE25-C81E-C3E99CB44DAC}"/>
              </a:ext>
            </a:extLst>
          </p:cNvPr>
          <p:cNvCxnSpPr/>
          <p:nvPr/>
        </p:nvCxnSpPr>
        <p:spPr>
          <a:xfrm>
            <a:off x="6868512" y="5477168"/>
            <a:ext cx="4603531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2C1FBC5-B340-FDDD-BFFB-8720436948B2}"/>
              </a:ext>
            </a:extLst>
          </p:cNvPr>
          <p:cNvCxnSpPr>
            <a:cxnSpLocks/>
          </p:cNvCxnSpPr>
          <p:nvPr/>
        </p:nvCxnSpPr>
        <p:spPr>
          <a:xfrm flipV="1">
            <a:off x="7020912" y="1561013"/>
            <a:ext cx="0" cy="4068555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F6A8C56-16E6-DED2-8CEC-D1277272AD9F}"/>
              </a:ext>
            </a:extLst>
          </p:cNvPr>
          <p:cNvSpPr/>
          <p:nvPr/>
        </p:nvSpPr>
        <p:spPr>
          <a:xfrm>
            <a:off x="7758277" y="2058662"/>
            <a:ext cx="3150394" cy="2493169"/>
          </a:xfrm>
          <a:custGeom>
            <a:avLst/>
            <a:gdLst>
              <a:gd name="connsiteX0" fmla="*/ 0 w 3150394"/>
              <a:gd name="connsiteY0" fmla="*/ 0 h 2493169"/>
              <a:gd name="connsiteX1" fmla="*/ 1042988 w 3150394"/>
              <a:gd name="connsiteY1" fmla="*/ 1800225 h 2493169"/>
              <a:gd name="connsiteX2" fmla="*/ 3150394 w 3150394"/>
              <a:gd name="connsiteY2" fmla="*/ 2493169 h 2493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50394" h="2493169">
                <a:moveTo>
                  <a:pt x="0" y="0"/>
                </a:moveTo>
                <a:cubicBezTo>
                  <a:pt x="258961" y="692348"/>
                  <a:pt x="517922" y="1384697"/>
                  <a:pt x="1042988" y="1800225"/>
                </a:cubicBezTo>
                <a:cubicBezTo>
                  <a:pt x="1568054" y="2215753"/>
                  <a:pt x="2359224" y="2354461"/>
                  <a:pt x="3150394" y="2493169"/>
                </a:cubicBezTo>
              </a:path>
            </a:pathLst>
          </a:custGeom>
          <a:noFill/>
          <a:ln w="635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90D200D-9339-ADBD-33E5-30C13B4369FD}"/>
              </a:ext>
            </a:extLst>
          </p:cNvPr>
          <p:cNvCxnSpPr/>
          <p:nvPr/>
        </p:nvCxnSpPr>
        <p:spPr>
          <a:xfrm>
            <a:off x="10908671" y="4551831"/>
            <a:ext cx="0" cy="8643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3E414A7-9D10-7D9D-6796-68C7BFF9DFF5}"/>
              </a:ext>
            </a:extLst>
          </p:cNvPr>
          <p:cNvCxnSpPr/>
          <p:nvPr/>
        </p:nvCxnSpPr>
        <p:spPr>
          <a:xfrm>
            <a:off x="7758277" y="2058662"/>
            <a:ext cx="0" cy="34185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68CC553-9B1E-655A-014C-72C48085A782}"/>
                  </a:ext>
                </a:extLst>
              </p:cNvPr>
              <p:cNvSpPr txBox="1"/>
              <p:nvPr/>
            </p:nvSpPr>
            <p:spPr>
              <a:xfrm>
                <a:off x="8686966" y="5538113"/>
                <a:ext cx="16018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Volume,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68CC553-9B1E-655A-014C-72C48085A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966" y="5538113"/>
                <a:ext cx="1601849" cy="461665"/>
              </a:xfrm>
              <a:prstGeom prst="rect">
                <a:avLst/>
              </a:prstGeom>
              <a:blipFill>
                <a:blip r:embed="rId8"/>
                <a:stretch>
                  <a:fillRect l="-570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F378FEB-F17C-BA99-5991-01B0930A0616}"/>
                  </a:ext>
                </a:extLst>
              </p:cNvPr>
              <p:cNvSpPr txBox="1"/>
              <p:nvPr/>
            </p:nvSpPr>
            <p:spPr>
              <a:xfrm rot="16200000">
                <a:off x="5815262" y="3419314"/>
                <a:ext cx="178908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Pressure,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F378FEB-F17C-BA99-5991-01B0930A06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15262" y="3419314"/>
                <a:ext cx="1789080" cy="461665"/>
              </a:xfrm>
              <a:prstGeom prst="rect">
                <a:avLst/>
              </a:prstGeom>
              <a:blipFill>
                <a:blip r:embed="rId9"/>
                <a:stretch>
                  <a:fillRect l="-10526" r="-28947" b="-5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8DB5045-9922-F585-3088-B84FA4FB5109}"/>
                  </a:ext>
                </a:extLst>
              </p:cNvPr>
              <p:cNvSpPr txBox="1"/>
              <p:nvPr/>
            </p:nvSpPr>
            <p:spPr>
              <a:xfrm>
                <a:off x="7586829" y="5768945"/>
                <a:ext cx="66178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8DB5045-9922-F585-3088-B84FA4FB51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6829" y="5768945"/>
                <a:ext cx="661783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0A97C37-DDCD-E4B1-F6B5-921FD0EB91F5}"/>
                  </a:ext>
                </a:extLst>
              </p:cNvPr>
              <p:cNvSpPr txBox="1"/>
              <p:nvPr/>
            </p:nvSpPr>
            <p:spPr>
              <a:xfrm>
                <a:off x="10514422" y="5756786"/>
                <a:ext cx="719492" cy="6313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0A97C37-DDCD-E4B1-F6B5-921FD0EB9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4422" y="5756786"/>
                <a:ext cx="719492" cy="63139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B0A1FB3-9805-4C61-D3BB-8F05974A908A}"/>
                  </a:ext>
                </a:extLst>
              </p:cNvPr>
              <p:cNvSpPr txBox="1"/>
              <p:nvPr/>
            </p:nvSpPr>
            <p:spPr>
              <a:xfrm>
                <a:off x="8228634" y="4593029"/>
                <a:ext cx="2216825" cy="8283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</m:d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𝒆𝒙𝒕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𝒅𝑽</m:t>
                          </m:r>
                        </m:e>
                      </m:nary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B0A1FB3-9805-4C61-D3BB-8F05974A9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8634" y="4593029"/>
                <a:ext cx="2216825" cy="82830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76FD5D8-0AFA-4584-A8FB-AC40A0894AC4}"/>
                  </a:ext>
                </a:extLst>
              </p:cNvPr>
              <p:cNvSpPr txBox="1"/>
              <p:nvPr/>
            </p:nvSpPr>
            <p:spPr>
              <a:xfrm>
                <a:off x="2693439" y="3378220"/>
                <a:ext cx="229344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𝒆𝒙𝒕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𝒊𝒏𝒕</m:t>
                          </m:r>
                        </m:sub>
                      </m:sSub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76FD5D8-0AFA-4584-A8FB-AC40A0894A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3439" y="3378220"/>
                <a:ext cx="2293448" cy="58477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ADAF2D4-5B5A-6589-0ADD-BDEBA1D8FBE0}"/>
                  </a:ext>
                </a:extLst>
              </p:cNvPr>
              <p:cNvSpPr txBox="1"/>
              <p:nvPr/>
            </p:nvSpPr>
            <p:spPr>
              <a:xfrm>
                <a:off x="8671028" y="3009287"/>
                <a:ext cx="265309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𝒆𝒙𝒕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𝒄𝒐𝒏𝒔𝒕</m:t>
                      </m:r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ADAF2D4-5B5A-6589-0ADD-BDEBA1D8FB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1028" y="3009287"/>
                <a:ext cx="2653099" cy="58477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4BFFAD8-01CE-9C8E-1E22-0B1125DA2122}"/>
              </a:ext>
            </a:extLst>
          </p:cNvPr>
          <p:cNvCxnSpPr/>
          <p:nvPr/>
        </p:nvCxnSpPr>
        <p:spPr>
          <a:xfrm>
            <a:off x="9347761" y="3684603"/>
            <a:ext cx="1526407" cy="737347"/>
          </a:xfrm>
          <a:prstGeom prst="straightConnector1">
            <a:avLst/>
          </a:prstGeom>
          <a:ln w="1270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22D4D545-45FC-992E-00E4-310537A193AD}"/>
              </a:ext>
            </a:extLst>
          </p:cNvPr>
          <p:cNvSpPr txBox="1"/>
          <p:nvPr/>
        </p:nvSpPr>
        <p:spPr>
          <a:xfrm>
            <a:off x="3186937" y="57022"/>
            <a:ext cx="66839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Isothermal expansion of ideal gas</a:t>
            </a:r>
            <a:endParaRPr lang="en-US" altLang="en-US" sz="32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8C36AAF-5C58-1A29-B626-6D3251EB4AB0}"/>
              </a:ext>
            </a:extLst>
          </p:cNvPr>
          <p:cNvSpPr txBox="1"/>
          <p:nvPr/>
        </p:nvSpPr>
        <p:spPr>
          <a:xfrm>
            <a:off x="2279767" y="1206298"/>
            <a:ext cx="22934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8000"/>
                </a:solidFill>
              </a:rPr>
              <a:t>Reversible</a:t>
            </a:r>
            <a:endParaRPr lang="en-US" sz="32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D2187CC-350C-667C-1DB9-806423B2538B}"/>
              </a:ext>
            </a:extLst>
          </p:cNvPr>
          <p:cNvSpPr txBox="1"/>
          <p:nvPr/>
        </p:nvSpPr>
        <p:spPr>
          <a:xfrm>
            <a:off x="8491202" y="1206297"/>
            <a:ext cx="26530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Irreversible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5307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3FA0C51-ACF4-2C4B-FEA5-A1E2E9B1BBB0}"/>
              </a:ext>
            </a:extLst>
          </p:cNvPr>
          <p:cNvSpPr txBox="1"/>
          <p:nvPr/>
        </p:nvSpPr>
        <p:spPr>
          <a:xfrm>
            <a:off x="219856" y="127690"/>
            <a:ext cx="1175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</a:rPr>
              <a:t>Cell reaction</a:t>
            </a:r>
            <a:r>
              <a:rPr lang="en-US" sz="2000" dirty="0"/>
              <a:t>: written assuming that the </a:t>
            </a:r>
            <a:r>
              <a:rPr lang="en-US" sz="2000" dirty="0">
                <a:solidFill>
                  <a:srgbClr val="FF0000"/>
                </a:solidFill>
              </a:rPr>
              <a:t>right-hand</a:t>
            </a:r>
            <a:r>
              <a:rPr lang="en-US" sz="2000" dirty="0"/>
              <a:t> electrode (as it appears in cell diagram) is the </a:t>
            </a:r>
            <a:r>
              <a:rPr lang="en-US" sz="2000" dirty="0">
                <a:solidFill>
                  <a:srgbClr val="FF0000"/>
                </a:solidFill>
              </a:rPr>
              <a:t>cathode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DB43038-716E-7C1E-D5D2-CA7EF37C35D0}"/>
                  </a:ext>
                </a:extLst>
              </p:cNvPr>
              <p:cNvSpPr txBox="1"/>
              <p:nvPr/>
            </p:nvSpPr>
            <p:spPr>
              <a:xfrm>
                <a:off x="3640810" y="923994"/>
                <a:ext cx="591123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𝑍𝑛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𝑍𝑛𝑆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𝑎𝑞</m:t>
                              </m:r>
                            </m:e>
                          </m:d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𝐶𝑢𝑆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𝑎𝑞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)|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𝐶𝑢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DB43038-716E-7C1E-D5D2-CA7EF37C35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810" y="923994"/>
                <a:ext cx="5911234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A9AC5847-A1F8-AD6F-78D0-45572B6D80F8}"/>
              </a:ext>
            </a:extLst>
          </p:cNvPr>
          <p:cNvSpPr txBox="1"/>
          <p:nvPr/>
        </p:nvSpPr>
        <p:spPr>
          <a:xfrm>
            <a:off x="443016" y="872958"/>
            <a:ext cx="20473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This means: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C1EA19BB-B7E5-AB7F-6FFD-3AF6EB99AF04}"/>
              </a:ext>
            </a:extLst>
          </p:cNvPr>
          <p:cNvSpPr/>
          <p:nvPr/>
        </p:nvSpPr>
        <p:spPr>
          <a:xfrm rot="5400000">
            <a:off x="7958468" y="305607"/>
            <a:ext cx="342876" cy="2732726"/>
          </a:xfrm>
          <a:prstGeom prst="rightBrace">
            <a:avLst>
              <a:gd name="adj1" fmla="val 151737"/>
              <a:gd name="adj2" fmla="val 50000"/>
            </a:avLst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A8DC0D-0DC5-58AB-8EF7-A3DC6DDE4C7E}"/>
              </a:ext>
            </a:extLst>
          </p:cNvPr>
          <p:cNvSpPr txBox="1"/>
          <p:nvPr/>
        </p:nvSpPr>
        <p:spPr>
          <a:xfrm>
            <a:off x="6596427" y="1802250"/>
            <a:ext cx="34035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Reduction (Cathode)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A4607AC7-846C-FC66-F3C8-306E46925EAD}"/>
              </a:ext>
            </a:extLst>
          </p:cNvPr>
          <p:cNvSpPr/>
          <p:nvPr/>
        </p:nvSpPr>
        <p:spPr>
          <a:xfrm rot="5400000">
            <a:off x="4930904" y="308835"/>
            <a:ext cx="342876" cy="2718950"/>
          </a:xfrm>
          <a:prstGeom prst="rightBrace">
            <a:avLst>
              <a:gd name="adj1" fmla="val 151737"/>
              <a:gd name="adj2" fmla="val 50000"/>
            </a:avLst>
          </a:prstGeom>
          <a:ln w="635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87040E-DDCE-75D7-7E40-DACB48B23CA5}"/>
              </a:ext>
            </a:extLst>
          </p:cNvPr>
          <p:cNvSpPr txBox="1"/>
          <p:nvPr/>
        </p:nvSpPr>
        <p:spPr>
          <a:xfrm>
            <a:off x="3622225" y="1849916"/>
            <a:ext cx="29602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</a:rPr>
              <a:t>Oxidation (Anode)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9FD3DA9-0278-E7E5-7982-CA2D0E205C09}"/>
                  </a:ext>
                </a:extLst>
              </p:cNvPr>
              <p:cNvSpPr txBox="1"/>
              <p:nvPr/>
            </p:nvSpPr>
            <p:spPr>
              <a:xfrm>
                <a:off x="2455717" y="2410059"/>
                <a:ext cx="418108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𝑍𝑛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8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en-US" sz="28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8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  <m:r>
                        <a:rPr lang="en-US" sz="28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𝑎𝑞</m:t>
                      </m:r>
                      <m:r>
                        <a:rPr lang="en-US" sz="28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9FD3DA9-0278-E7E5-7982-CA2D0E205C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5717" y="2410059"/>
                <a:ext cx="418108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6DB9CAF-9CE5-C9DF-467D-14651B05B567}"/>
                  </a:ext>
                </a:extLst>
              </p:cNvPr>
              <p:cNvSpPr txBox="1"/>
              <p:nvPr/>
            </p:nvSpPr>
            <p:spPr>
              <a:xfrm>
                <a:off x="6721934" y="2406228"/>
                <a:ext cx="42757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  <m:d>
                        <m:dPr>
                          <m:ctrlP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𝐶𝑢</m:t>
                      </m:r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6DB9CAF-9CE5-C9DF-467D-14651B05B5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1934" y="2406228"/>
                <a:ext cx="427572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D7A4307-35FE-DCE4-F6EF-739E6042F49E}"/>
                  </a:ext>
                </a:extLst>
              </p:cNvPr>
              <p:cNvSpPr txBox="1"/>
              <p:nvPr/>
            </p:nvSpPr>
            <p:spPr>
              <a:xfrm>
                <a:off x="3429028" y="3125407"/>
                <a:ext cx="641553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𝑍𝑛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800" i="1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  <m:d>
                        <m:dPr>
                          <m:ctrlPr>
                            <a:rPr lang="en-US" sz="2800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  <m:r>
                        <a:rPr lang="en-US" sz="2800" i="1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800" i="1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  <m:d>
                        <m:dPr>
                          <m:ctrlPr>
                            <a:rPr lang="en-US" sz="2800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  <m:r>
                        <a:rPr lang="en-US" sz="2800" i="1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𝐶𝑢</m:t>
                      </m:r>
                      <m:r>
                        <a:rPr lang="en-US" sz="2800" i="1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800" i="1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008000"/>
                  </a:solidFill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D7A4307-35FE-DCE4-F6EF-739E6042F4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28" y="3125407"/>
                <a:ext cx="6415538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25DDA36C-6F54-E649-1ED1-7E5060F1AB9F}"/>
              </a:ext>
            </a:extLst>
          </p:cNvPr>
          <p:cNvSpPr txBox="1"/>
          <p:nvPr/>
        </p:nvSpPr>
        <p:spPr>
          <a:xfrm>
            <a:off x="5652025" y="3947160"/>
            <a:ext cx="64155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Difference of </a:t>
            </a:r>
            <a:r>
              <a:rPr lang="en-US" sz="2800" b="1" dirty="0">
                <a:solidFill>
                  <a:srgbClr val="FF0000"/>
                </a:solidFill>
              </a:rPr>
              <a:t>reduction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008000"/>
                </a:solidFill>
              </a:rPr>
              <a:t>half-reactions</a:t>
            </a:r>
            <a:r>
              <a:rPr lang="en-US" sz="2800" dirty="0"/>
              <a:t>:  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          Right (cathode) </a:t>
            </a:r>
            <a:r>
              <a:rPr lang="en-US" sz="2800" dirty="0"/>
              <a:t>– </a:t>
            </a:r>
            <a:r>
              <a:rPr lang="en-US" sz="2800" b="1" dirty="0">
                <a:solidFill>
                  <a:srgbClr val="7030A0"/>
                </a:solidFill>
              </a:rPr>
              <a:t>Left (anode)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4B9F7C9-B7CF-ADB1-2B8B-2AC72C3C4767}"/>
                  </a:ext>
                </a:extLst>
              </p:cNvPr>
              <p:cNvSpPr txBox="1"/>
              <p:nvPr/>
            </p:nvSpPr>
            <p:spPr>
              <a:xfrm>
                <a:off x="6160346" y="5047690"/>
                <a:ext cx="42757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  <m:d>
                        <m:dPr>
                          <m:ctrlP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𝐶𝑢</m:t>
                      </m:r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4B9F7C9-B7CF-ADB1-2B8B-2AC72C3C47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0346" y="5047690"/>
                <a:ext cx="427572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C89D1F8-FFAF-22C0-D837-74A3AA07DFE8}"/>
                  </a:ext>
                </a:extLst>
              </p:cNvPr>
              <p:cNvSpPr txBox="1"/>
              <p:nvPr/>
            </p:nvSpPr>
            <p:spPr>
              <a:xfrm>
                <a:off x="6207729" y="5608999"/>
                <a:ext cx="418095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  <m:d>
                        <m:dPr>
                          <m:ctrlPr>
                            <a:rPr 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  <m:r>
                        <a:rPr lang="en-US" sz="28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en-US" sz="28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8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𝑍𝑛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C89D1F8-FFAF-22C0-D837-74A3AA07DF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7729" y="5608999"/>
                <a:ext cx="4180953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1DA867E9-9E64-52C6-1EBD-F1AFCD92EF3B}"/>
              </a:ext>
            </a:extLst>
          </p:cNvPr>
          <p:cNvSpPr txBox="1"/>
          <p:nvPr/>
        </p:nvSpPr>
        <p:spPr>
          <a:xfrm>
            <a:off x="10527470" y="5021691"/>
            <a:ext cx="11865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(Right)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BD2222-8D11-ED1B-B608-CDA2D311CBD1}"/>
              </a:ext>
            </a:extLst>
          </p:cNvPr>
          <p:cNvSpPr txBox="1"/>
          <p:nvPr/>
        </p:nvSpPr>
        <p:spPr>
          <a:xfrm>
            <a:off x="10527470" y="5608999"/>
            <a:ext cx="9907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(Left)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8DEF6F5-C409-A073-4082-9C2DBFF43373}"/>
                  </a:ext>
                </a:extLst>
              </p:cNvPr>
              <p:cNvSpPr txBox="1"/>
              <p:nvPr/>
            </p:nvSpPr>
            <p:spPr>
              <a:xfrm>
                <a:off x="255524" y="3948432"/>
                <a:ext cx="5686269" cy="22467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Sum of </a:t>
                </a:r>
                <a:r>
                  <a:rPr lang="en-US" sz="2800" b="1" dirty="0">
                    <a:solidFill>
                      <a:srgbClr val="0000FF"/>
                    </a:solidFill>
                  </a:rPr>
                  <a:t>oxidation</a:t>
                </a:r>
                <a:r>
                  <a:rPr lang="en-US" sz="2800" dirty="0">
                    <a:solidFill>
                      <a:srgbClr val="FF0000"/>
                    </a:solidFill>
                  </a:rPr>
                  <a:t> and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reduction</a:t>
                </a:r>
                <a:endParaRPr lang="en-US" sz="2800" b="1" dirty="0"/>
              </a:p>
              <a:p>
                <a:pPr/>
                <a:endParaRPr lang="en-US" sz="2800" i="1" dirty="0">
                  <a:solidFill>
                    <a:srgbClr val="0000FF"/>
                  </a:solidFill>
                  <a:latin typeface="Cambria Math" panose="02040503050406030204" pitchFamily="18" charset="0"/>
                </a:endParaRPr>
              </a:p>
              <a:p>
                <a:pPr/>
                <a:endParaRPr lang="en-US" sz="2800" i="1" dirty="0">
                  <a:solidFill>
                    <a:srgbClr val="0000FF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𝑍𝑛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8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en-US" sz="28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8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  <m:r>
                        <a:rPr lang="en-US" sz="28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𝑎𝑞</m:t>
                      </m:r>
                      <m:r>
                        <a:rPr lang="en-US" sz="28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0000FF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  <m:d>
                        <m:dPr>
                          <m:ctrlP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𝐶𝑢</m:t>
                      </m:r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8DEF6F5-C409-A073-4082-9C2DBFF433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24" y="3948432"/>
                <a:ext cx="5686269" cy="2246769"/>
              </a:xfrm>
              <a:prstGeom prst="rect">
                <a:avLst/>
              </a:prstGeom>
              <a:blipFill>
                <a:blip r:embed="rId8"/>
                <a:stretch>
                  <a:fillRect l="-2251" t="-29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B81A76D4-027B-4D6E-C652-37BF854836F6}"/>
              </a:ext>
            </a:extLst>
          </p:cNvPr>
          <p:cNvSpPr txBox="1"/>
          <p:nvPr/>
        </p:nvSpPr>
        <p:spPr>
          <a:xfrm>
            <a:off x="352286" y="3125407"/>
            <a:ext cx="24896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8000"/>
                </a:solidFill>
              </a:rPr>
              <a:t>Net reaction </a:t>
            </a:r>
            <a:endParaRPr lang="en-US" sz="2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C838E8-46BA-1924-C2EA-A993A61D56D6}"/>
              </a:ext>
            </a:extLst>
          </p:cNvPr>
          <p:cNvSpPr txBox="1"/>
          <p:nvPr/>
        </p:nvSpPr>
        <p:spPr>
          <a:xfrm>
            <a:off x="648522" y="5241924"/>
            <a:ext cx="5549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/>
              <a:t>+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2FC71F-A6C7-110A-D807-B27349EF6715}"/>
              </a:ext>
            </a:extLst>
          </p:cNvPr>
          <p:cNvSpPr txBox="1"/>
          <p:nvPr/>
        </p:nvSpPr>
        <p:spPr>
          <a:xfrm>
            <a:off x="5929235" y="5141728"/>
            <a:ext cx="4203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2332685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221</Words>
  <Application>Microsoft Office PowerPoint</Application>
  <PresentationFormat>Widescreen</PresentationFormat>
  <Paragraphs>47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Alexey Akimov</dc:creator>
  <cp:lastModifiedBy>Alexey Akimov</cp:lastModifiedBy>
  <cp:revision>3</cp:revision>
  <dcterms:created xsi:type="dcterms:W3CDTF">2025-09-01T19:29:56Z</dcterms:created>
  <dcterms:modified xsi:type="dcterms:W3CDTF">2025-09-25T18:22:40Z</dcterms:modified>
</cp:coreProperties>
</file>